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6" d="100"/>
          <a:sy n="16" d="100"/>
        </p:scale>
        <p:origin x="1336" y="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E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1133856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5C52"/>
                </a:solidFill>
                <a:latin typeface="Segoe UI"/>
              </a:rPr>
              <a:t>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10896"/>
            <a:ext cx="1133856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C2430"/>
                </a:solidFill>
                <a:latin typeface="Segoe UI"/>
              </a:rPr>
              <a:t>From a file to annotations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694944"/>
            <a:ext cx="1133856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6570"/>
                </a:solidFill>
                <a:latin typeface="Segoe UI"/>
              </a:rPr>
              <a:t>Prepare and Launch run once. Regular detect always runs. Pattern detect runs only when patternMode is true.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078992"/>
            <a:ext cx="5349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078992"/>
            <a:ext cx="73152" cy="868680"/>
          </a:xfrm>
          <a:prstGeom prst="rect">
            <a:avLst/>
          </a:prstGeom>
          <a:solidFill>
            <a:srgbClr val="3D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152144"/>
            <a:ext cx="5056631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4754"/>
                </a:solidFill>
                <a:latin typeface="Segoe UI"/>
              </a:rPr>
              <a:t>1   Prepare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408176"/>
            <a:ext cx="5056631" cy="4663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30"/>
                </a:solidFill>
                <a:latin typeface="Segoe UI"/>
              </a:rPr>
              <a:t>Pick up files tagged ToAnnotate and create an AnnotationState in status New.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15584" y="1426464"/>
            <a:ext cx="256032" cy="146304"/>
          </a:xfrm>
          <a:prstGeom prst="rightArrow">
            <a:avLst/>
          </a:prstGeom>
          <a:solidFill>
            <a:srgbClr val="3D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163056" y="1078992"/>
            <a:ext cx="5632704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63056" y="1078992"/>
            <a:ext cx="73152" cy="868680"/>
          </a:xfrm>
          <a:prstGeom prst="rect">
            <a:avLst/>
          </a:prstGeom>
          <a:solidFill>
            <a:srgbClr val="3D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45936" y="1152144"/>
            <a:ext cx="534009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4754"/>
                </a:solidFill>
                <a:latin typeface="Segoe UI"/>
              </a:rPr>
              <a:t>2   Launch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5936" y="1408176"/>
            <a:ext cx="5340096" cy="4663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30"/>
                </a:solidFill>
                <a:latin typeface="Segoe UI"/>
              </a:rPr>
              <a:t>Group files by scope, then load DetectInDiagrams entities with the same values. Aliases are the match text.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72092" y="1965960"/>
            <a:ext cx="32004" cy="219456"/>
          </a:xfrm>
          <a:prstGeom prst="rect">
            <a:avLst/>
          </a:prstGeom>
          <a:solidFill>
            <a:srgbClr val="3D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195828" y="2167128"/>
            <a:ext cx="5792724" cy="32004"/>
          </a:xfrm>
          <a:prstGeom prst="rect">
            <a:avLst/>
          </a:prstGeom>
          <a:solidFill>
            <a:srgbClr val="3D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own Arrow 16"/>
          <p:cNvSpPr/>
          <p:nvPr/>
        </p:nvSpPr>
        <p:spPr>
          <a:xfrm>
            <a:off x="3122676" y="2194560"/>
            <a:ext cx="146304" cy="164592"/>
          </a:xfrm>
          <a:prstGeom prst="downArrow">
            <a:avLst/>
          </a:prstGeom>
          <a:solidFill>
            <a:srgbClr val="0E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Down Arrow 17"/>
          <p:cNvSpPr/>
          <p:nvPr/>
        </p:nvSpPr>
        <p:spPr>
          <a:xfrm>
            <a:off x="8915400" y="2194560"/>
            <a:ext cx="146304" cy="164592"/>
          </a:xfrm>
          <a:prstGeom prst="downArrow">
            <a:avLst/>
          </a:prstGeom>
          <a:solidFill>
            <a:srgbClr val="9A4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961388" y="1975104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5C52"/>
                </a:solidFill>
                <a:latin typeface="Segoe UI"/>
              </a:rPr>
              <a:t>Always</a:t>
            </a:r>
            <a:endParaRPr lang="en-US" sz="1100" b="1">
              <a:solidFill>
                <a:srgbClr val="0E5C52"/>
              </a:solidFill>
              <a:latin typeface="Segoe U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153144" y="1975104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451A"/>
                </a:solidFill>
                <a:latin typeface="Segoe UI"/>
              </a:rPr>
              <a:t>Only if patternMode</a:t>
            </a:r>
            <a:endParaRPr lang="en-US" sz="1100" b="1">
              <a:solidFill>
                <a:srgbClr val="9A451A"/>
              </a:solidFill>
              <a:latin typeface="Segoe U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384048" y="2450592"/>
            <a:ext cx="5623560" cy="329184"/>
          </a:xfrm>
          <a:prstGeom prst="roundRect">
            <a:avLst>
              <a:gd name="adj" fmla="val 6000"/>
            </a:avLst>
          </a:prstGeom>
          <a:solidFill>
            <a:srgbClr val="0E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30352" y="2496312"/>
            <a:ext cx="530352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3   Regular diagram detect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4048" y="2889504"/>
            <a:ext cx="5623560" cy="804672"/>
          </a:xfrm>
          <a:prstGeom prst="roundRect">
            <a:avLst>
              <a:gd name="adj" fmla="val 8000"/>
            </a:avLst>
          </a:prstGeom>
          <a:solidFill>
            <a:srgbClr val="E4F2EE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84048" y="2889504"/>
            <a:ext cx="73152" cy="804672"/>
          </a:xfrm>
          <a:prstGeom prst="rect">
            <a:avLst/>
          </a:prstGeom>
          <a:solidFill>
            <a:srgbClr val="0E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6928" y="2962656"/>
            <a:ext cx="533095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5C52"/>
                </a:solidFill>
                <a:latin typeface="Segoe UI"/>
              </a:rPr>
              <a:t>Detect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218688"/>
            <a:ext cx="5330952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30"/>
                </a:solidFill>
                <a:latin typeface="Segoe UI"/>
              </a:rPr>
              <a:t>Send the alias strings. search_field = search_property. A hit names the asset or file.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3122676" y="3730752"/>
            <a:ext cx="146304" cy="164592"/>
          </a:xfrm>
          <a:prstGeom prst="downArrow">
            <a:avLst/>
          </a:prstGeom>
          <a:solidFill>
            <a:srgbClr val="0E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84048" y="3931920"/>
            <a:ext cx="5623560" cy="804672"/>
          </a:xfrm>
          <a:prstGeom prst="roundRect">
            <a:avLst>
              <a:gd name="adj" fmla="val 8000"/>
            </a:avLst>
          </a:prstGeom>
          <a:solidFill>
            <a:srgbClr val="E4F2EE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84048" y="3931920"/>
            <a:ext cx="73152" cy="804672"/>
          </a:xfrm>
          <a:prstGeom prst="rect">
            <a:avLst/>
          </a:prstGeom>
          <a:solidFill>
            <a:srgbClr val="0E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6928" y="4005072"/>
            <a:ext cx="533095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5C52"/>
                </a:solidFill>
                <a:latin typeface="Segoe UI"/>
              </a:rPr>
              <a:t>Confidence 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261104"/>
            <a:ext cx="5330952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30"/>
                </a:solidFill>
                <a:latin typeface="Segoe UI"/>
              </a:rPr>
              <a:t>At or above approval: Approved. At or above suggest: Suggested. Below suggest: dropped.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3122676" y="4773168"/>
            <a:ext cx="146304" cy="164592"/>
          </a:xfrm>
          <a:prstGeom prst="downArrow">
            <a:avLst/>
          </a:prstGeom>
          <a:solidFill>
            <a:srgbClr val="0E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84048" y="4974336"/>
            <a:ext cx="5623560" cy="960120"/>
          </a:xfrm>
          <a:prstGeom prst="roundRect">
            <a:avLst>
              <a:gd name="adj" fmla="val 8000"/>
            </a:avLst>
          </a:prstGeom>
          <a:solidFill>
            <a:srgbClr val="E4F2EE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84048" y="4974336"/>
            <a:ext cx="73152" cy="960120"/>
          </a:xfrm>
          <a:prstGeom prst="rect">
            <a:avLst/>
          </a:prstGeom>
          <a:solidFill>
            <a:srgbClr val="0E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66928" y="5047488"/>
            <a:ext cx="533095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5C52"/>
                </a:solidFill>
                <a:latin typeface="Segoe UI"/>
              </a:rPr>
              <a:t>Annotation on the matched entity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5330952" cy="5577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30"/>
                </a:solidFill>
                <a:latin typeface="Segoe UI"/>
              </a:rPr>
              <a:t>Edge from the drawing to that asset or file. Asset links go to annotation_documents_tags, file links to annotation_documents_docs.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81344" y="2450592"/>
            <a:ext cx="5614416" cy="329184"/>
          </a:xfrm>
          <a:prstGeom prst="roundRect">
            <a:avLst>
              <a:gd name="adj" fmla="val 6000"/>
            </a:avLst>
          </a:prstGeom>
          <a:solidFill>
            <a:srgbClr val="9A4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327648" y="2496312"/>
            <a:ext cx="530352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4   Pattern mode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1344" y="2889504"/>
            <a:ext cx="5614416" cy="804672"/>
          </a:xfrm>
          <a:prstGeom prst="roundRect">
            <a:avLst>
              <a:gd name="adj" fmla="val 8000"/>
            </a:avLst>
          </a:prstGeom>
          <a:solidFill>
            <a:srgbClr val="F8ECE4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181344" y="2889504"/>
            <a:ext cx="73152" cy="804672"/>
          </a:xfrm>
          <a:prstGeom prst="rect">
            <a:avLst/>
          </a:prstGeom>
          <a:solidFill>
            <a:srgbClr val="9A4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364224" y="2962656"/>
            <a:ext cx="5321807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A451A"/>
                </a:solidFill>
                <a:latin typeface="Segoe UI"/>
              </a:rPr>
              <a:t>Samples, then detect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64224" y="3218688"/>
            <a:ext cx="5321807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30"/>
                </a:solidFill>
                <a:latin typeface="Segoe UI"/>
              </a:rPr>
              <a:t>Normalize aliases to a shape (00-AA-0000) and merge manual patterns. search_field = sample.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8915400" y="3730752"/>
            <a:ext cx="146304" cy="164592"/>
          </a:xfrm>
          <a:prstGeom prst="downArrow">
            <a:avLst/>
          </a:prstGeom>
          <a:solidFill>
            <a:srgbClr val="9A4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181344" y="3931920"/>
            <a:ext cx="5614416" cy="713232"/>
          </a:xfrm>
          <a:prstGeom prst="roundRect">
            <a:avLst>
              <a:gd name="adj" fmla="val 8000"/>
            </a:avLst>
          </a:prstGeom>
          <a:solidFill>
            <a:srgbClr val="F8ECE4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181344" y="3931920"/>
            <a:ext cx="73152" cy="713232"/>
          </a:xfrm>
          <a:prstGeom prst="rect">
            <a:avLst/>
          </a:prstGeom>
          <a:solidFill>
            <a:srgbClr val="9A4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364224" y="4005072"/>
            <a:ext cx="5321807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A451A"/>
                </a:solidFill>
                <a:latin typeface="Segoe UI"/>
              </a:rPr>
              <a:t>Keep only a new region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64224" y="4261104"/>
            <a:ext cx="5321807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30"/>
                </a:solidFill>
                <a:latin typeface="Segoe UI"/>
              </a:rPr>
              <a:t>Skip text already covered by a regular annotation. Otherwise write Suggested to the sink node.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8915400" y="4681728"/>
            <a:ext cx="146304" cy="164592"/>
          </a:xfrm>
          <a:prstGeom prst="downArrow">
            <a:avLst/>
          </a:prstGeom>
          <a:solidFill>
            <a:srgbClr val="9A4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181344" y="4864608"/>
            <a:ext cx="5614416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A451A"/>
                </a:solidFill>
                <a:latin typeface="Segoe UI"/>
              </a:rPr>
              <a:t>5   Promote  ·  how many aliases match the text?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1344" y="5102352"/>
            <a:ext cx="1810512" cy="841248"/>
          </a:xfrm>
          <a:prstGeom prst="roundRect">
            <a:avLst>
              <a:gd name="adj" fmla="val 8000"/>
            </a:avLst>
          </a:prstGeom>
          <a:solidFill>
            <a:srgbClr val="E4F2EE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72783" y="5157216"/>
            <a:ext cx="1627632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5C52"/>
                </a:solidFill>
                <a:latin typeface="Segoe UI"/>
              </a:rPr>
              <a:t>One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72783" y="5394960"/>
            <a:ext cx="1627632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30"/>
                </a:solidFill>
                <a:latin typeface="Segoe UI"/>
              </a:rPr>
              <a:t>Approved edge on that asset or file.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83296" y="5102352"/>
            <a:ext cx="1810512" cy="841248"/>
          </a:xfrm>
          <a:prstGeom prst="roundRect">
            <a:avLst>
              <a:gd name="adj" fmla="val 8000"/>
            </a:avLst>
          </a:prstGeom>
          <a:solidFill>
            <a:srgbClr val="F8ECE4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174736" y="5157216"/>
            <a:ext cx="1627632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A451A"/>
                </a:solidFill>
                <a:latin typeface="Segoe UI"/>
              </a:rPr>
              <a:t>None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74736" y="5394960"/>
            <a:ext cx="1627632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30"/>
                </a:solidFill>
                <a:latin typeface="Segoe UI"/>
              </a:rPr>
              <a:t>Rejected. Unmatched tag kept in RAW.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85248" y="5102352"/>
            <a:ext cx="1810512" cy="841248"/>
          </a:xfrm>
          <a:prstGeom prst="roundRect">
            <a:avLst>
              <a:gd name="adj" fmla="val 8000"/>
            </a:avLst>
          </a:prstGeom>
          <a:solidFill>
            <a:srgbClr val="F8F1DC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0076688" y="5157216"/>
            <a:ext cx="1627632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A5610"/>
                </a:solidFill>
                <a:latin typeface="Segoe UI"/>
              </a:rPr>
              <a:t>Several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76688" y="5394960"/>
            <a:ext cx="1627632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30"/>
                </a:solidFill>
                <a:latin typeface="Segoe UI"/>
              </a:rPr>
              <a:t>Stays Suggested for review.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84048" y="6565392"/>
            <a:ext cx="950976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570"/>
                </a:solidFill>
                <a:latin typeface="Segoe UI"/>
              </a:rPr>
              <a:t>cdf_file_annotation   ·   tags choose who is included; aliases are the text that is matched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09960" y="6565392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570"/>
                </a:solidFill>
                <a:latin typeface="Segoe UI"/>
              </a:rPr>
              <a:t>1 / 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4261104"/>
            <a:ext cx="5330952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30"/>
                </a:solidFill>
                <a:latin typeface="Segoe UI"/>
              </a:rPr>
              <a:t>At or above approval: Approved. At or above suggest: Suggested. Below suggest: dropped.</a:t>
            </a:r>
          </a:p>
        </p:txBody>
      </p:sp>
      <p:sp>
        <p:nvSpPr>
          <p:cNvPr id="62" name="Down Arrow 31"/>
          <p:cNvSpPr/>
          <p:nvPr/>
        </p:nvSpPr>
        <p:spPr>
          <a:xfrm>
            <a:off x="3035808" y="4773168"/>
            <a:ext cx="146304" cy="164592"/>
          </a:xfrm>
          <a:prstGeom prst="downArrow">
            <a:avLst/>
          </a:prstGeom>
          <a:solidFill>
            <a:srgbClr val="0E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32"/>
          <p:cNvSpPr/>
          <p:nvPr/>
        </p:nvSpPr>
        <p:spPr>
          <a:xfrm>
            <a:off x="384048" y="4974336"/>
            <a:ext cx="5623560" cy="960120"/>
          </a:xfrm>
          <a:prstGeom prst="roundRect">
            <a:avLst>
              <a:gd name="adj" fmla="val 8000"/>
            </a:avLst>
          </a:prstGeom>
          <a:solidFill>
            <a:srgbClr val="E4F2EE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384048" y="4974336"/>
            <a:ext cx="73152" cy="960120"/>
          </a:xfrm>
          <a:prstGeom prst="rect">
            <a:avLst/>
          </a:prstGeom>
          <a:solidFill>
            <a:srgbClr val="0E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66928" y="5047488"/>
            <a:ext cx="533095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5C52"/>
                </a:solidFill>
                <a:latin typeface="Segoe UI"/>
              </a:rPr>
              <a:t>Annotation on the matched entity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5303520"/>
            <a:ext cx="5330952" cy="5577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30"/>
                </a:solidFill>
                <a:latin typeface="Segoe UI"/>
              </a:rPr>
              <a:t>Edge from the drawing to that asset or file. Asset links go to annotation_documents_tags, file links to annotation_documents_docs.</a:t>
            </a:r>
          </a:p>
        </p:txBody>
      </p:sp>
      <p:sp>
        <p:nvSpPr>
          <p:cNvPr id="67" name="Rounded Rectangle 36"/>
          <p:cNvSpPr/>
          <p:nvPr/>
        </p:nvSpPr>
        <p:spPr>
          <a:xfrm>
            <a:off x="6181344" y="2450592"/>
            <a:ext cx="5614416" cy="329184"/>
          </a:xfrm>
          <a:prstGeom prst="roundRect">
            <a:avLst>
              <a:gd name="adj" fmla="val 6000"/>
            </a:avLst>
          </a:prstGeom>
          <a:solidFill>
            <a:srgbClr val="9A4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327648" y="2496312"/>
            <a:ext cx="530352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4   Pattern mode</a:t>
            </a:r>
          </a:p>
        </p:txBody>
      </p:sp>
      <p:sp>
        <p:nvSpPr>
          <p:cNvPr id="69" name="Rounded Rectangle 38"/>
          <p:cNvSpPr/>
          <p:nvPr/>
        </p:nvSpPr>
        <p:spPr>
          <a:xfrm>
            <a:off x="6181344" y="2889504"/>
            <a:ext cx="5614416" cy="804672"/>
          </a:xfrm>
          <a:prstGeom prst="roundRect">
            <a:avLst>
              <a:gd name="adj" fmla="val 8000"/>
            </a:avLst>
          </a:prstGeom>
          <a:solidFill>
            <a:srgbClr val="F8ECE4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6181344" y="2889504"/>
            <a:ext cx="73152" cy="804672"/>
          </a:xfrm>
          <a:prstGeom prst="rect">
            <a:avLst/>
          </a:prstGeom>
          <a:solidFill>
            <a:srgbClr val="9A4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364224" y="2962656"/>
            <a:ext cx="5321807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A451A"/>
                </a:solidFill>
                <a:latin typeface="Segoe UI"/>
              </a:rPr>
              <a:t>Samples, then detect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64224" y="3218688"/>
            <a:ext cx="5321807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30"/>
                </a:solidFill>
                <a:latin typeface="Segoe UI"/>
              </a:rPr>
              <a:t>Normalize aliases to a shape (00-AA-0000) and merge manual patterns. search_field = sample.</a:t>
            </a:r>
          </a:p>
        </p:txBody>
      </p:sp>
      <p:sp>
        <p:nvSpPr>
          <p:cNvPr id="73" name="Down Arrow 42"/>
          <p:cNvSpPr/>
          <p:nvPr/>
        </p:nvSpPr>
        <p:spPr>
          <a:xfrm>
            <a:off x="8869680" y="3730752"/>
            <a:ext cx="146304" cy="164592"/>
          </a:xfrm>
          <a:prstGeom prst="downArrow">
            <a:avLst/>
          </a:prstGeom>
          <a:solidFill>
            <a:srgbClr val="9A4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43"/>
          <p:cNvSpPr/>
          <p:nvPr/>
        </p:nvSpPr>
        <p:spPr>
          <a:xfrm>
            <a:off x="6181344" y="3931920"/>
            <a:ext cx="5614416" cy="713232"/>
          </a:xfrm>
          <a:prstGeom prst="roundRect">
            <a:avLst>
              <a:gd name="adj" fmla="val 8000"/>
            </a:avLst>
          </a:prstGeom>
          <a:solidFill>
            <a:srgbClr val="F8ECE4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6181344" y="3931920"/>
            <a:ext cx="73152" cy="713232"/>
          </a:xfrm>
          <a:prstGeom prst="rect">
            <a:avLst/>
          </a:prstGeom>
          <a:solidFill>
            <a:srgbClr val="9A4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364224" y="4005072"/>
            <a:ext cx="5321807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A451A"/>
                </a:solidFill>
                <a:latin typeface="Segoe UI"/>
              </a:rPr>
              <a:t>Keep only a new region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64224" y="4261104"/>
            <a:ext cx="5321807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30"/>
                </a:solidFill>
                <a:latin typeface="Segoe UI"/>
              </a:rPr>
              <a:t>Skip text already covered by a regular annotation. Otherwise write Suggested to the sink node.</a:t>
            </a:r>
          </a:p>
        </p:txBody>
      </p:sp>
      <p:sp>
        <p:nvSpPr>
          <p:cNvPr id="78" name="Down Arrow 47"/>
          <p:cNvSpPr/>
          <p:nvPr/>
        </p:nvSpPr>
        <p:spPr>
          <a:xfrm>
            <a:off x="8869680" y="4681728"/>
            <a:ext cx="146304" cy="164592"/>
          </a:xfrm>
          <a:prstGeom prst="downArrow">
            <a:avLst/>
          </a:prstGeom>
          <a:solidFill>
            <a:srgbClr val="9A4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181344" y="4864608"/>
            <a:ext cx="5614416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A451A"/>
                </a:solidFill>
                <a:latin typeface="Segoe UI"/>
              </a:rPr>
              <a:t>5   Promote  ·  how many aliases match the text?</a:t>
            </a:r>
          </a:p>
        </p:txBody>
      </p:sp>
      <p:sp>
        <p:nvSpPr>
          <p:cNvPr id="80" name="Rounded Rectangle 49"/>
          <p:cNvSpPr/>
          <p:nvPr/>
        </p:nvSpPr>
        <p:spPr>
          <a:xfrm>
            <a:off x="6181344" y="5102352"/>
            <a:ext cx="1810512" cy="841248"/>
          </a:xfrm>
          <a:prstGeom prst="roundRect">
            <a:avLst>
              <a:gd name="adj" fmla="val 8000"/>
            </a:avLst>
          </a:prstGeom>
          <a:solidFill>
            <a:srgbClr val="E4F2EE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272783" y="5157216"/>
            <a:ext cx="1627632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5C52"/>
                </a:solidFill>
                <a:latin typeface="Segoe UI"/>
              </a:rPr>
              <a:t>One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72783" y="5394960"/>
            <a:ext cx="1627632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30"/>
                </a:solidFill>
                <a:latin typeface="Segoe UI"/>
              </a:rPr>
              <a:t>Approved edge on that asset or file.</a:t>
            </a:r>
          </a:p>
        </p:txBody>
      </p:sp>
      <p:sp>
        <p:nvSpPr>
          <p:cNvPr id="83" name="Rounded Rectangle 52"/>
          <p:cNvSpPr/>
          <p:nvPr/>
        </p:nvSpPr>
        <p:spPr>
          <a:xfrm>
            <a:off x="8083296" y="5102352"/>
            <a:ext cx="1810512" cy="841248"/>
          </a:xfrm>
          <a:prstGeom prst="roundRect">
            <a:avLst>
              <a:gd name="adj" fmla="val 8000"/>
            </a:avLst>
          </a:prstGeom>
          <a:solidFill>
            <a:srgbClr val="F8ECE4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8174736" y="5157216"/>
            <a:ext cx="1627632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A451A"/>
                </a:solidFill>
                <a:latin typeface="Segoe UI"/>
              </a:rPr>
              <a:t>None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174736" y="5394960"/>
            <a:ext cx="1627632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30"/>
                </a:solidFill>
                <a:latin typeface="Segoe UI"/>
              </a:rPr>
              <a:t>Rejected. Unmatched tag kept in RAW.</a:t>
            </a:r>
          </a:p>
        </p:txBody>
      </p:sp>
      <p:sp>
        <p:nvSpPr>
          <p:cNvPr id="86" name="Rounded Rectangle 55"/>
          <p:cNvSpPr/>
          <p:nvPr/>
        </p:nvSpPr>
        <p:spPr>
          <a:xfrm>
            <a:off x="9985248" y="5102352"/>
            <a:ext cx="1810512" cy="841248"/>
          </a:xfrm>
          <a:prstGeom prst="roundRect">
            <a:avLst>
              <a:gd name="adj" fmla="val 8000"/>
            </a:avLst>
          </a:prstGeom>
          <a:solidFill>
            <a:srgbClr val="F8F1DC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10076688" y="5157216"/>
            <a:ext cx="1627632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A5610"/>
                </a:solidFill>
                <a:latin typeface="Segoe UI"/>
              </a:rPr>
              <a:t>Several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076688" y="5394960"/>
            <a:ext cx="1627632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30"/>
                </a:solidFill>
                <a:latin typeface="Segoe UI"/>
              </a:rPr>
              <a:t>Stays Suggested for review.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4048" y="6565392"/>
            <a:ext cx="950976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570"/>
                </a:solidFill>
                <a:latin typeface="Segoe UI"/>
              </a:rPr>
              <a:t>cdf_file_annotation   ·   tags choose who is included; aliases are the text that is matched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109960" y="6565392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570"/>
                </a:solidFill>
                <a:latin typeface="Segoe UI"/>
              </a:rPr>
              <a:t>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E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1133856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5C52"/>
                </a:solidFill>
                <a:latin typeface="Segoe UI"/>
              </a:rPr>
              <a:t>LAUNCH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10896"/>
            <a:ext cx="1133856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C2430"/>
                </a:solidFill>
                <a:latin typeface="Segoe UI"/>
              </a:rPr>
              <a:t>Aliases feed both detect jobs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694944"/>
            <a:ext cx="1133856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6570"/>
                </a:solidFill>
                <a:latin typeface="Segoe UI"/>
              </a:rPr>
              <a:t>The entity set is filtered to the file's scope, then prepared once. patternMode decides whether a second job runs.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097280"/>
            <a:ext cx="187451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4048" y="1133856"/>
            <a:ext cx="1874519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C2430"/>
                </a:solidFill>
                <a:latin typeface="Segoe UI"/>
              </a:rPr>
              <a:t>patternMode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31720" y="109728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31720" y="1133856"/>
            <a:ext cx="21488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C2430"/>
                </a:solidFill>
                <a:latin typeface="Segoe UI"/>
              </a:rPr>
              <a:t>searchProperty: aliases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097280"/>
            <a:ext cx="26060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17720" y="1133856"/>
            <a:ext cx="26060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C2430"/>
                </a:solidFill>
                <a:latin typeface="Segoe UI"/>
              </a:rPr>
              <a:t>entityNormalizationPatterns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1097280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60920" y="1133856"/>
            <a:ext cx="23317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C2430"/>
                </a:solidFill>
                <a:latin typeface="Segoe UI"/>
              </a:rPr>
              <a:t>fileNormalizationPatterns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29800" y="1097280"/>
            <a:ext cx="1965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829800" y="1133856"/>
            <a:ext cx="196596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C2430"/>
                </a:solidFill>
                <a:latin typeface="Segoe UI"/>
              </a:rPr>
              <a:t>structuralAutoPatterns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" y="1481328"/>
            <a:ext cx="1143000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84048" y="1481328"/>
            <a:ext cx="73152" cy="896112"/>
          </a:xfrm>
          <a:prstGeom prst="rect">
            <a:avLst/>
          </a:prstGeom>
          <a:solidFill>
            <a:srgbClr val="0E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" y="1554480"/>
            <a:ext cx="10972800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C2430"/>
                </a:solidFill>
                <a:latin typeface="Segoe UI"/>
              </a:rPr>
              <a:t>Included by tag and scope, matched by alias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570"/>
                </a:solidFill>
                <a:latin typeface="Segoe UI"/>
              </a:rPr>
              <a:t>23-KA-9101 needs DetectInDiagrams and the file's site and unit. Aliases 23-KA-9101 and VAL_23-KA-9101 are the match text. A blank alias list falls back to name.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4048" y="2542032"/>
            <a:ext cx="553212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384048" y="2542032"/>
            <a:ext cx="5532120" cy="420624"/>
          </a:xfrm>
          <a:prstGeom prst="roundRect">
            <a:avLst>
              <a:gd name="adj" fmla="val 6000"/>
            </a:avLst>
          </a:prstGeom>
          <a:solidFill>
            <a:srgbClr val="0E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84048" y="2779776"/>
            <a:ext cx="5532120" cy="201168"/>
          </a:xfrm>
          <a:prstGeom prst="rect">
            <a:avLst/>
          </a:prstGeom>
          <a:solidFill>
            <a:srgbClr val="0E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2615184"/>
            <a:ext cx="52120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Regular diagram detect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072384"/>
            <a:ext cx="5166360" cy="2697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E5C52"/>
                </a:solidFill>
                <a:latin typeface="Segoe UI"/>
              </a:rPr>
              <a:t>search_field = search_property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C2430"/>
                </a:solidFill>
                <a:latin typeface="Segoe UI"/>
              </a:rPr>
              <a:t>The alias strings are sent as the entity. Diagram Detect looks for those strings on the drawing.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100"/>
              </a:spcAft>
            </a:pPr>
            <a:r>
              <a:rPr sz="1200" b="1">
                <a:solidFill>
                  <a:srgbClr val="5C6570"/>
                </a:solidFill>
                <a:latin typeface="Segoe UI"/>
              </a:rPr>
              <a:t>Sent for this asset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2430"/>
                </a:solidFill>
                <a:latin typeface="Segoe UI"/>
              </a:rPr>
              <a:t>search_property:  23-KA-9101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C2430"/>
                </a:solidFill>
                <a:latin typeface="Segoe UI"/>
              </a:rPr>
              <a:t>search_property:  VAL_23-KA-9101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1C2430"/>
                </a:solidFill>
                <a:latin typeface="Segoe UI"/>
              </a:rPr>
              <a:t>A hit returns the asset id, the matched text, a confidence, and a bounding box.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1">
                <a:solidFill>
                  <a:srgbClr val="0E5C52"/>
                </a:solidFill>
                <a:latin typeface="Segoe UI"/>
              </a:rPr>
              <a:t>Links drawing text to an asset or file that already owns that alias.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99048" y="2542032"/>
            <a:ext cx="571500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099048" y="2542032"/>
            <a:ext cx="5715000" cy="420624"/>
          </a:xfrm>
          <a:prstGeom prst="roundRect">
            <a:avLst>
              <a:gd name="adj" fmla="val 6000"/>
            </a:avLst>
          </a:prstGeom>
          <a:solidFill>
            <a:srgbClr val="9A4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099048" y="2779776"/>
            <a:ext cx="5715000" cy="201168"/>
          </a:xfrm>
          <a:prstGeom prst="rect">
            <a:avLst/>
          </a:prstGeom>
          <a:solidFill>
            <a:srgbClr val="9A4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63640" y="2615184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Pattern mode   ·   only if patternMode is true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1928" y="3054096"/>
            <a:ext cx="5349240" cy="2697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9A451A"/>
                </a:solidFill>
                <a:latin typeface="Segoe UI"/>
              </a:rPr>
              <a:t>Aliases become shapes, then a second detect call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30"/>
                </a:solidFill>
                <a:latin typeface="Segoe UI"/>
              </a:rPr>
              <a:t>1   Normalize.  VAL_23-KA-9101  →  23_KA_9101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C6570"/>
                </a:solidFill>
                <a:latin typeface="Segoe UI"/>
              </a:rPr>
              <a:t>     Assets use entityNormalizationPatterns. Files use fileNormalizationPatterns.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30"/>
                </a:solidFill>
                <a:latin typeface="Segoe UI"/>
              </a:rPr>
              <a:t>2   Shape.  structuralAutoPatterns true  →  00-AA-0000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C6570"/>
                </a:solidFill>
                <a:latin typeface="Segoe UI"/>
              </a:rPr>
              <a:t>     false enumerates letter codes instead, such as [KA|FE].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C2430"/>
                </a:solidFill>
                <a:latin typeface="Segoe UI"/>
              </a:rPr>
              <a:t>3   Merge manual_patterns_catalog: GLOBAL, site, then site_unit.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1C2430"/>
                </a:solidFill>
                <a:latin typeface="Segoe UI"/>
              </a:rPr>
              <a:t>Job: pattern_mode true, search_field = sample. Any text with that shape can match.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1">
                <a:solidFill>
                  <a:srgbClr val="9A451A"/>
                </a:solidFill>
                <a:latin typeface="Segoe UI"/>
              </a:rPr>
              <a:t>Finds tag-shaped text that is not one of those aliases.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" y="6565392"/>
            <a:ext cx="950976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570"/>
                </a:solidFill>
                <a:latin typeface="Segoe UI"/>
              </a:rPr>
              <a:t>cdf_file_annotation   ·   tags choose who is included; aliases are the text that is matched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565392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570"/>
                </a:solidFill>
                <a:latin typeface="Segoe UI"/>
              </a:rPr>
              <a:t>2 /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565392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570"/>
                </a:solidFill>
                <a:latin typeface="Segoe UI"/>
              </a:rP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E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1133856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5C52"/>
                </a:solidFill>
                <a:latin typeface="Segoe UI"/>
              </a:rPr>
              <a:t>FINALIZE  ·  REGULAR JOB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10896"/>
            <a:ext cx="1133856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C2430"/>
                </a:solidFill>
                <a:latin typeface="Segoe UI"/>
              </a:rPr>
              <a:t>A regular hit becomes an annotation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694944"/>
            <a:ext cx="1133856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6570"/>
                </a:solidFill>
                <a:latin typeface="Segoe UI"/>
              </a:rPr>
              <a:t>The entity on the detect result is the end of the edge. Confidence decides whether the hit is kept.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170432"/>
            <a:ext cx="2761488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170432"/>
            <a:ext cx="2761488" cy="73152"/>
          </a:xfrm>
          <a:prstGeom prst="rect">
            <a:avLst/>
          </a:prstGeom>
          <a:solidFill>
            <a:srgbClr val="0E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0352" y="1316736"/>
            <a:ext cx="32918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5C52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335024"/>
            <a:ext cx="217627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2430"/>
                </a:solidFill>
                <a:latin typeface="Segoe UI"/>
              </a:rPr>
              <a:t>Detect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37360"/>
            <a:ext cx="2468880" cy="2514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C2430"/>
                </a:solidFill>
                <a:latin typeface="Segoe UI"/>
              </a:rPr>
              <a:t>text, confidence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C2430"/>
                </a:solidFill>
                <a:latin typeface="Segoe UI"/>
              </a:rPr>
              <a:t>page and bounding box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570"/>
                </a:solidFill>
                <a:latin typeface="Segoe UI"/>
              </a:rPr>
              <a:t>The entity whose alias matched: space, external id, and diagrams.AssetLink or diagrams.FileLink.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1170432"/>
            <a:ext cx="2761488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73552" y="1170432"/>
            <a:ext cx="2761488" cy="73152"/>
          </a:xfrm>
          <a:prstGeom prst="rect">
            <a:avLst/>
          </a:prstGeom>
          <a:solidFill>
            <a:srgbClr val="0E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19856" y="1316736"/>
            <a:ext cx="32918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5C52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1335024"/>
            <a:ext cx="217627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2430"/>
                </a:solidFill>
                <a:latin typeface="Segoe UI"/>
              </a:rPr>
              <a:t>Confidence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9856" y="1737360"/>
            <a:ext cx="2468880" cy="2514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C2430"/>
                </a:solidFill>
                <a:latin typeface="Segoe UI"/>
              </a:rPr>
              <a:t>Asset links use assetAutoApprovalThreshold and assetAutoSuggestThreshold.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C2430"/>
                </a:solidFill>
                <a:latin typeface="Segoe UI"/>
              </a:rPr>
              <a:t>File links use the file pair, or the asset pair when those are empty.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0E5C52"/>
                </a:solidFill>
                <a:latin typeface="Segoe UI"/>
              </a:rPr>
              <a:t>At or above approval → Approved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7A5610"/>
                </a:solidFill>
                <a:latin typeface="Segoe UI"/>
              </a:rPr>
              <a:t>At or above suggest → Suggested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6570"/>
                </a:solidFill>
                <a:latin typeface="Segoe UI"/>
              </a:rPr>
              <a:t>Below suggest → dropped. No edge, no RAW row.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170432"/>
            <a:ext cx="2761488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63056" y="1170432"/>
            <a:ext cx="2761488" cy="73152"/>
          </a:xfrm>
          <a:prstGeom prst="rect">
            <a:avLst/>
          </a:prstGeom>
          <a:solidFill>
            <a:srgbClr val="0E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9360" y="1316736"/>
            <a:ext cx="32918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5C52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1968" y="1335024"/>
            <a:ext cx="217627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2430"/>
                </a:solidFill>
                <a:latin typeface="Segoe UI"/>
              </a:rPr>
              <a:t>Annotation 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737360"/>
            <a:ext cx="2468880" cy="2514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C2430"/>
                </a:solidFill>
                <a:latin typeface="Segoe UI"/>
              </a:rPr>
              <a:t>Written in the file’s space.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C2430"/>
                </a:solidFill>
                <a:latin typeface="Segoe UI"/>
              </a:rPr>
              <a:t>Start: the drawing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C2430"/>
                </a:solidFill>
                <a:latin typeface="Segoe UI"/>
              </a:rPr>
              <a:t>End: the matched asset or file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6570"/>
                </a:solidFill>
                <a:latin typeface="Segoe UI"/>
              </a:rPr>
              <a:t>Type: diagrams.AssetLink or diagrams.FileLink. Status, text, page, and box are stored on the edge.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1170432"/>
            <a:ext cx="2761488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52560" y="1170432"/>
            <a:ext cx="2761488" cy="73152"/>
          </a:xfrm>
          <a:prstGeom prst="rect">
            <a:avLst/>
          </a:prstGeom>
          <a:solidFill>
            <a:srgbClr val="0E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98864" y="1316736"/>
            <a:ext cx="32918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5C52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91472" y="1335024"/>
            <a:ext cx="217627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2430"/>
                </a:solidFill>
                <a:latin typeface="Segoe UI"/>
              </a:rPr>
              <a:t>RAW audit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4" y="1737360"/>
            <a:ext cx="2468880" cy="2514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C6570"/>
                </a:solidFill>
                <a:latin typeface="Segoe UI"/>
              </a:rPr>
              <a:t>Asset link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2430"/>
                </a:solidFill>
                <a:latin typeface="Segoe UI"/>
              </a:rPr>
              <a:t>annotation_documents_tags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C6570"/>
                </a:solidFill>
                <a:latin typeface="Segoe UI"/>
              </a:rPr>
              <a:t>File link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2430"/>
                </a:solidFill>
                <a:latin typeface="Segoe UI"/>
              </a:rPr>
              <a:t>annotation_documents_docs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6570"/>
                </a:solidFill>
                <a:latin typeface="Segoe UI"/>
              </a:rPr>
              <a:t>The box is remembered so pattern mode does not annotate the same region again.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4048" y="4590288"/>
            <a:ext cx="11430000" cy="1783080"/>
          </a:xfrm>
          <a:prstGeom prst="roundRect">
            <a:avLst>
              <a:gd name="adj" fmla="val 6000"/>
            </a:avLst>
          </a:prstGeom>
          <a:solidFill>
            <a:srgbClr val="E4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85216" y="4736592"/>
            <a:ext cx="11018520" cy="1508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0E5C52"/>
                </a:solidFill>
                <a:latin typeface="Segoe UI"/>
              </a:rPr>
              <a:t>Example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C2430"/>
                </a:solidFill>
                <a:latin typeface="Segoe UI"/>
              </a:rPr>
              <a:t>The drawing contains 23-KA-9101. That string is an alias on asset 23-KA-9101, so the regular job returns that asset.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2430"/>
                </a:solidFill>
                <a:latin typeface="Segoe UI"/>
              </a:rPr>
              <a:t>Confidence 1.0 with both thresholds at 1.0 is Approved. Finalize writes an edge from the P&amp;ID to the asset, and a row in annotation_documents_tags.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" y="6565392"/>
            <a:ext cx="950976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570"/>
                </a:solidFill>
                <a:latin typeface="Segoe UI"/>
              </a:rPr>
              <a:t>cdf_file_annotation   ·   tags choose who is included; aliases are the text that is matched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565392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570"/>
                </a:solidFill>
                <a:latin typeface="Segoe UI"/>
              </a:rPr>
              <a:t>3 /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565392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570"/>
                </a:solidFill>
                <a:latin typeface="Segoe UI"/>
              </a:rP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E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1133856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5C52"/>
                </a:solidFill>
                <a:latin typeface="Segoe UI"/>
              </a:rPr>
              <a:t>FINALIZE AND PROMOTE  ·  PATTERN JOB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10896"/>
            <a:ext cx="1133856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C2430"/>
                </a:solidFill>
                <a:latin typeface="Segoe UI"/>
              </a:rPr>
              <a:t>Pattern mode keeps tags the hierarchy missed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694944"/>
            <a:ext cx="1133856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6570"/>
                </a:solidFill>
                <a:latin typeface="Segoe UI"/>
              </a:rPr>
              <a:t>A shape hit is not an asset link yet. Promote searches aliases, and can filter that search to the file's scope.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115568"/>
            <a:ext cx="1143000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115568"/>
            <a:ext cx="73152" cy="1170432"/>
          </a:xfrm>
          <a:prstGeom prst="rect">
            <a:avLst/>
          </a:prstGeom>
          <a:solidFill>
            <a:srgbClr val="9A4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207008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9A451A"/>
                </a:solidFill>
                <a:latin typeface="Segoe UI"/>
              </a:rPr>
              <a:t>Pattern result that is not already covered by a regular annotation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30"/>
                </a:solidFill>
                <a:latin typeface="Segoe UI"/>
              </a:rPr>
              <a:t>A region already covered by a regular annotation is skipped. A new region is written as Suggested, ending at the sink node (pattern_detection_sink_node), not at an asset. The row goes to annotation_documents_patterns.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414016"/>
            <a:ext cx="114300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2430"/>
                </a:solidFill>
                <a:latin typeface="Segoe UI"/>
              </a:rPr>
              <a:t>Promote looks the detected text up on aliases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743200"/>
            <a:ext cx="3712463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84048" y="2743200"/>
            <a:ext cx="73152" cy="2331720"/>
          </a:xfrm>
          <a:prstGeom prst="rect">
            <a:avLst/>
          </a:prstGeom>
          <a:solidFill>
            <a:srgbClr val="0E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2834640"/>
            <a:ext cx="338327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5C52"/>
                </a:solidFill>
                <a:latin typeface="Segoe UI"/>
              </a:rPr>
              <a:t>One alias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3072384"/>
            <a:ext cx="3383279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6570"/>
                </a:solidFill>
                <a:latin typeface="Segoe UI"/>
              </a:rPr>
              <a:t>Becomes an annotation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3346704"/>
            <a:ext cx="3383279" cy="160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C2430"/>
                </a:solidFill>
                <a:latin typeface="Segoe UI"/>
              </a:rPr>
              <a:t>Edge moves from the sink to that asset or file.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E5C52"/>
                </a:solidFill>
                <a:latin typeface="Segoe UI"/>
              </a:rPr>
              <a:t>Status Approved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5C52"/>
                </a:solidFill>
                <a:latin typeface="Segoe UI"/>
              </a:rPr>
              <a:t>Tag PromotedAuto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6570"/>
                </a:solidFill>
                <a:latin typeface="Segoe UI"/>
              </a:rPr>
              <a:t>The tag on the drawing is now linked in the hierarchy.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42816" y="2743200"/>
            <a:ext cx="3712463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42816" y="2743200"/>
            <a:ext cx="73152" cy="2331720"/>
          </a:xfrm>
          <a:prstGeom prst="rect">
            <a:avLst/>
          </a:prstGeom>
          <a:solidFill>
            <a:srgbClr val="9A4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43983" y="2834640"/>
            <a:ext cx="338327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9A451A"/>
                </a:solidFill>
                <a:latin typeface="Segoe UI"/>
              </a:rPr>
              <a:t>No alias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3" y="3072384"/>
            <a:ext cx="3383279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6570"/>
                </a:solidFill>
                <a:latin typeface="Segoe UI"/>
              </a:rPr>
              <a:t>On the drawing, not in the hierarchy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3983" y="3346704"/>
            <a:ext cx="3383279" cy="160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9A451A"/>
                </a:solidFill>
                <a:latin typeface="Segoe UI"/>
              </a:rPr>
              <a:t>Status Rejected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A451A"/>
                </a:solidFill>
                <a:latin typeface="Segoe UI"/>
              </a:rPr>
              <a:t>Tag PromoteAttempted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C2430"/>
                </a:solidFill>
                <a:latin typeface="Segoe UI"/>
              </a:rPr>
              <a:t>The data-model edge is removed. The RAW row is kept.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6570"/>
                </a:solidFill>
                <a:latin typeface="Segoe UI"/>
              </a:rPr>
              <a:t>This is the unmatched-tag list.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1583" y="2743200"/>
            <a:ext cx="3712463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01583" y="2743200"/>
            <a:ext cx="73152" cy="2331720"/>
          </a:xfrm>
          <a:prstGeom prst="rect">
            <a:avLst/>
          </a:prstGeom>
          <a:solidFill>
            <a:srgbClr val="7A5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02752" y="2834640"/>
            <a:ext cx="338327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7A5610"/>
                </a:solidFill>
                <a:latin typeface="Segoe UI"/>
              </a:rPr>
              <a:t>Several aliases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3072384"/>
            <a:ext cx="3383279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6570"/>
                </a:solidFill>
                <a:latin typeface="Segoe UI"/>
              </a:rPr>
              <a:t>Left for 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3346704"/>
            <a:ext cx="3383279" cy="160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C2430"/>
                </a:solidFill>
                <a:latin typeface="Segoe UI"/>
              </a:rPr>
              <a:t>Stays Suggested on the sink.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7A5610"/>
                </a:solidFill>
                <a:latin typeface="Segoe UI"/>
              </a:rPr>
              <a:t>Tags PromoteAttempted and AmbiguousMatch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6570"/>
                </a:solidFill>
                <a:latin typeface="Segoe UI"/>
              </a:rPr>
              <a:t>More than one asset or file owns that text, so nothing is attached automatically.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4048" y="5230368"/>
            <a:ext cx="11430000" cy="1170432"/>
          </a:xfrm>
          <a:prstGeom prst="roundRect">
            <a:avLst>
              <a:gd name="adj" fmla="val 6000"/>
            </a:avLst>
          </a:prstGeom>
          <a:solidFill>
            <a:srgbClr val="F8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5358384"/>
            <a:ext cx="11064240" cy="9326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C2430"/>
                </a:solidFill>
                <a:latin typeface="Segoe UI"/>
              </a:rPr>
              <a:t>Example    23-XX-9999 matches the shape 00-AA-0000, and no asset alias equals that text.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30"/>
                </a:solidFill>
                <a:latin typeface="Segoe UI"/>
              </a:rPr>
              <a:t>It is stored as Rejected in annotation_documents_patterns. If an asset later receives that alias, the same promote step attaches an Approved annotation instead.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565392"/>
            <a:ext cx="950976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570"/>
                </a:solidFill>
                <a:latin typeface="Segoe UI"/>
              </a:rPr>
              <a:t>cdf_file_annotation   ·   tags choose who is included; aliases are the text that is matched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565392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570"/>
                </a:solidFill>
                <a:latin typeface="Segoe UI"/>
              </a:rP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E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113385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5C52"/>
                </a:solidFill>
                <a:latin typeface="Segoe UI"/>
              </a:rPr>
              <a:t>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10896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C2430"/>
                </a:solidFill>
                <a:latin typeface="Segoe UI"/>
              </a:rPr>
              <a:t>How scope filters the match 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694944"/>
            <a:ext cx="11338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6570"/>
                </a:solidFill>
                <a:latin typeface="Segoe UI"/>
              </a:rPr>
              <a:t>primaryScopeProperty and secondaryScopeProperty are property names. The value is read from each file, asset, and reference file.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060704"/>
            <a:ext cx="27889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097280"/>
            <a:ext cx="2624327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D4754"/>
                </a:solidFill>
                <a:latin typeface="Segoe UI"/>
              </a:rPr>
              <a:t>primaryScopeProperty: site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82696" y="1060704"/>
            <a:ext cx="310896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1097280"/>
            <a:ext cx="2944368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D4754"/>
                </a:solidFill>
                <a:latin typeface="Segoe UI"/>
              </a:rPr>
              <a:t>secondaryScopeProperty: unit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01384" y="1060704"/>
            <a:ext cx="23317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2824" y="1097280"/>
            <a:ext cx="2167127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D4754"/>
                </a:solidFill>
                <a:latin typeface="Segoe UI"/>
              </a:rPr>
              <a:t>Empty string disables a level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42832" y="1060704"/>
            <a:ext cx="285292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34272" y="1097280"/>
            <a:ext cx="2688336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D4754"/>
                </a:solidFill>
                <a:latin typeface="Segoe UI"/>
              </a:rPr>
              <a:t>Promote filter defaults to false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499616"/>
            <a:ext cx="4114800" cy="4901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1499616"/>
            <a:ext cx="73152" cy="4901184"/>
          </a:xfrm>
          <a:prstGeom prst="rect">
            <a:avLst/>
          </a:prstGeom>
          <a:solidFill>
            <a:srgbClr val="3D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1627632"/>
            <a:ext cx="3730752" cy="4617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2430"/>
                </a:solidFill>
                <a:latin typeface="Segoe UI"/>
              </a:rPr>
              <a:t>Required on the instances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200" b="0">
                <a:solidFill>
                  <a:srgbClr val="1C2430"/>
                </a:solidFill>
                <a:latin typeface="Segoe UI"/>
              </a:rPr>
              <a:t>Same text property on the file view and the target entity view. Core CogniteFile and CogniteAsset need an extended view that adds it.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300" b="1">
                <a:solidFill>
                  <a:srgbClr val="0E5C52"/>
                </a:solidFill>
                <a:latin typeface="Segoe UI"/>
              </a:rPr>
              <a:t>ToAnnotate file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1C2430"/>
                </a:solidFill>
                <a:latin typeface="Segoe UI"/>
              </a:rPr>
              <a:t>Carries a value for each configured property. A blank primary value matches every tagged entity. A blank secondary value widens the file to the whole primary scope.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300" b="1">
                <a:solidFill>
                  <a:srgbClr val="0E5C52"/>
                </a:solidFill>
                <a:latin typeface="Segoe UI"/>
              </a:rPr>
              <a:t>DetectInDiagrams asset or file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1C2430"/>
                </a:solidFill>
                <a:latin typeface="Segoe UI"/>
              </a:rPr>
              <a:t>Carries the same primary and secondary values as the file being annotated. Without those values, no scoped file sees it.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300" b="1">
                <a:solidFill>
                  <a:srgbClr val="0E5C52"/>
                </a:solidFill>
                <a:latin typeface="Segoe UI"/>
              </a:rPr>
              <a:t>ScopeWideDetect asset or file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1C2430"/>
                </a:solidFill>
                <a:latin typeface="Segoe UI"/>
              </a:rPr>
              <a:t>Carries the same primary value. The secondary value may differ. It stays inside that primary value, so a PlantA entity is out of every PlantB batch.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1499616"/>
            <a:ext cx="7132320" cy="2944368"/>
          </a:xfrm>
          <a:prstGeom prst="rect">
            <a:avLst/>
          </a:prstGeom>
          <a:solidFill>
            <a:srgbClr val="E4F2EE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63440" y="1499616"/>
            <a:ext cx="73152" cy="2944368"/>
          </a:xfrm>
          <a:prstGeom prst="rect">
            <a:avLst/>
          </a:prstGeom>
          <a:solidFill>
            <a:srgbClr val="0E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82896" y="1591056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5C52"/>
                </a:solidFill>
                <a:latin typeface="Segoe UI"/>
              </a:rPr>
              <a:t>Launch  ·  in memory, whenever the names are set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1C2430"/>
                </a:solidFill>
                <a:latin typeface="Segoe UI"/>
              </a:rPr>
              <a:t>Files that share site and unit form one batch. An entity is included when site equals the file, and either tag below is true.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82896" y="2286000"/>
            <a:ext cx="6729984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92624" y="2322576"/>
            <a:ext cx="6510528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C2430"/>
                </a:solidFill>
                <a:latin typeface="Segoe UI"/>
              </a:rPr>
              <a:t>site matches  AND  (ScopeWideDetect  OR  DetectInDiagrams with the same unit)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82896" y="2761488"/>
            <a:ext cx="6729984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D4754"/>
                </a:solidFill>
                <a:latin typeface="Segoe UI"/>
              </a:rPr>
              <a:t>PID-0001  ·  ToAnnotate  ·  site PlantA  ·  unit U100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82896" y="3017520"/>
            <a:ext cx="6729984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74336" y="3017520"/>
            <a:ext cx="38404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5C52"/>
                </a:solidFill>
                <a:latin typeface="Segoe UI"/>
              </a:rPr>
              <a:t>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0" y="301752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C2430"/>
                </a:solidFill>
                <a:latin typeface="Segoe UI"/>
              </a:rPr>
              <a:t>23-KA-9101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3017520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6570"/>
                </a:solidFill>
                <a:latin typeface="Segoe UI"/>
              </a:rPr>
              <a:t>PlantA / U100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3017520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4754"/>
                </a:solidFill>
                <a:latin typeface="Segoe UI"/>
              </a:rPr>
              <a:t>DetectInDiagrams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82896" y="3346703"/>
            <a:ext cx="6729984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336" y="3346703"/>
            <a:ext cx="38404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5C52"/>
                </a:solidFill>
                <a:latin typeface="Segoe UI"/>
              </a:rPr>
              <a:t>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60" y="3346703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C2430"/>
                </a:solidFill>
                <a:latin typeface="Segoe UI"/>
              </a:rPr>
              <a:t>PA-FLARE-01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346703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6570"/>
                </a:solidFill>
                <a:latin typeface="Segoe UI"/>
              </a:rPr>
              <a:t>PlantA / U300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3346703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4754"/>
                </a:solidFill>
                <a:latin typeface="Segoe UI"/>
              </a:rPr>
              <a:t>ScopeWideDetect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82896" y="3675887"/>
            <a:ext cx="6729984" cy="292608"/>
          </a:xfrm>
          <a:prstGeom prst="rect">
            <a:avLst/>
          </a:prstGeom>
          <a:solidFill>
            <a:srgbClr val="F8F1DC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74336" y="3675887"/>
            <a:ext cx="38404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A451A"/>
                </a:solidFill>
                <a:latin typeface="Segoe UI"/>
              </a:rPr>
              <a:t>Out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3675887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C2430"/>
                </a:solidFill>
                <a:latin typeface="Segoe UI"/>
              </a:rPr>
              <a:t>23-KA-9102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40" y="3675887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6570"/>
                </a:solidFill>
                <a:latin typeface="Segoe UI"/>
              </a:rPr>
              <a:t>PlantA / U300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3675887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4754"/>
                </a:solidFill>
                <a:latin typeface="Segoe UI"/>
              </a:rPr>
              <a:t>DetectInDiagrams only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82896" y="4005072"/>
            <a:ext cx="6729984" cy="292608"/>
          </a:xfrm>
          <a:prstGeom prst="rect">
            <a:avLst/>
          </a:prstGeom>
          <a:solidFill>
            <a:srgbClr val="F8F1DC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74336" y="4005072"/>
            <a:ext cx="38404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A451A"/>
                </a:solidFill>
                <a:latin typeface="Segoe UI"/>
              </a:rPr>
              <a:t>Out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400507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C2430"/>
                </a:solidFill>
                <a:latin typeface="Segoe UI"/>
              </a:rPr>
              <a:t>45-PB-2001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400507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6570"/>
                </a:solidFill>
                <a:latin typeface="Segoe UI"/>
              </a:rPr>
              <a:t>PlantB / U200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4005072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4754"/>
                </a:solidFill>
                <a:latin typeface="Segoe UI"/>
              </a:rPr>
              <a:t>DetectInDiagrams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4572000"/>
            <a:ext cx="7132320" cy="1828800"/>
          </a:xfrm>
          <a:prstGeom prst="rect">
            <a:avLst/>
          </a:prstGeom>
          <a:solidFill>
            <a:srgbClr val="F8ECE4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4572000"/>
            <a:ext cx="73152" cy="1828800"/>
          </a:xfrm>
          <a:prstGeom prst="rect">
            <a:avLst/>
          </a:prstGeom>
          <a:solidFill>
            <a:srgbClr val="9A4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82896" y="4681728"/>
            <a:ext cx="6766560" cy="16093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9A451A"/>
                </a:solidFill>
                <a:latin typeface="Segoe UI"/>
              </a:rPr>
              <a:t>Promote  ·  only when filterPatternPromoteByScope is true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1C2430"/>
                </a:solidFill>
                <a:latin typeface="Segoe UI"/>
              </a:rPr>
              <a:t>Launch scoping does not limit Promote while the flag is false.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1C2430"/>
                </a:solidFill>
                <a:latin typeface="Segoe UI"/>
              </a:rPr>
              <a:t>When it is true, the alias search adds the file's values: site = PlantA, and (unit = U100 or tag ScopeWideDetect). File links use the file view; asset links use the target entity view.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1C2430"/>
                </a:solidFill>
                <a:latin typeface="Segoe UI"/>
              </a:rPr>
              <a:t>The cache key is site=PlantA|unit=U100, so a hit in one scope is not reused in another. A blank value on the file skips that property.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" y="6565392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C6570"/>
                </a:solidFill>
                <a:latin typeface="Segoe UI"/>
              </a:rPr>
              <a:t>cdf_file_annotation   ·   scope chooses which tagged entities a file may match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09960" y="656539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C6570"/>
                </a:solidFill>
                <a:latin typeface="Segoe UI"/>
              </a:rP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1226</Words>
  <Application>Microsoft Office PowerPoint</Application>
  <PresentationFormat>Widescreen</PresentationFormat>
  <Paragraphs>138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File annotation processing flow</dc:title>
  <dc:subject>cdf_file_annotation aliases, diagram detect, and pattern mode</dc:subject>
  <dc:creator/>
  <cp:keywords/>
  <dc:description>generated using python-pptx</dc:description>
  <cp:lastModifiedBy>Jan Inge Bergseth</cp:lastModifiedBy>
  <cp:revision>1</cp:revision>
  <dcterms:created xsi:type="dcterms:W3CDTF">2013-01-27T09:14:16Z</dcterms:created>
  <dcterms:modified xsi:type="dcterms:W3CDTF">2026-09-29T09:42:40Z</dcterms:modified>
  <cp:category/>
</cp:coreProperties>
</file>